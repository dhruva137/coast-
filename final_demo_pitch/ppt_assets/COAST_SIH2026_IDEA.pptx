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rPr sz="3000" b="1">
                <a:solidFill>
                  <a:srgbClr val="0070C0"/>
                </a:solidFill>
              </a:rPr>
              <a:t>COAST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1500" i="1">
                <a:solidFill>
                  <a:srgbClr val="6B7A8C"/>
                </a:solidFill>
              </a:rPr>
              <a:t>When GPS dies, you coast on sensors.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6B7A8C"/>
                </a:solidFill>
              </a:rPr>
              <a:t>Problem Statement ID – </a:t>
            </a:r>
            <a:r>
              <a:rPr sz="1500" b="1">
                <a:solidFill>
                  <a:srgbClr val="0B1220"/>
                </a:solidFill>
              </a:rPr>
              <a:t>26168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500">
                <a:solidFill>
                  <a:srgbClr val="6B7A8C"/>
                </a:solidFill>
              </a:rPr>
              <a:t>Problem Statement Title – </a:t>
            </a:r>
            <a:r>
              <a:rPr sz="1500" b="1">
                <a:solidFill>
                  <a:srgbClr val="0B1220"/>
                </a:solidFill>
              </a:rPr>
              <a:t>AI-ML based Intelligent Dead Reckoning system for seamless navigation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6B7A8C"/>
                </a:solidFill>
              </a:rPr>
              <a:t>Theme – </a:t>
            </a:r>
            <a:r>
              <a:rPr sz="1500" b="1">
                <a:solidFill>
                  <a:srgbClr val="0B1220"/>
                </a:solidFill>
              </a:rPr>
              <a:t>Space Technology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6B7A8C"/>
                </a:solidFill>
              </a:rPr>
              <a:t>PS Category – </a:t>
            </a:r>
            <a:r>
              <a:rPr sz="1500" b="1">
                <a:solidFill>
                  <a:srgbClr val="0B1220"/>
                </a:solidFill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6B7A8C"/>
                </a:solidFill>
              </a:rPr>
              <a:t>Team ID – </a:t>
            </a:r>
            <a:r>
              <a:rPr sz="1500" b="1">
                <a:solidFill>
                  <a:srgbClr val="0B1220"/>
                </a:solidFill>
              </a:rPr>
              <a:t>TBD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6B7A8C"/>
                </a:solidFill>
              </a:rPr>
              <a:t>Team Name – </a:t>
            </a:r>
            <a:r>
              <a:rPr sz="1500" b="1">
                <a:solidFill>
                  <a:srgbClr val="0B1220"/>
                </a:solidFill>
              </a:rPr>
              <a:t>COAST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COAST — NAVIGATION THAT SURVIVES THE TUNNEL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COAST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66928" y="1170432"/>
            <a:ext cx="5943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220"/>
                </a:solidFill>
              </a:rPr>
              <a:t>Everyone tries to fix this with a better sensor. We measured that instinct — and it is wrong.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566928" y="1810512"/>
            <a:ext cx="5943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08A72"/>
                </a:solidFill>
              </a:rPr>
              <a:t>01  </a:t>
            </a:r>
            <a:r>
              <a:rPr sz="1250" b="0" i="0">
                <a:solidFill>
                  <a:srgbClr val="2B3645"/>
                </a:solidFill>
              </a:rPr>
              <a:t>Given a perfect, zero-error gyroscope, dead reckoning still fails 55% of 60-second segments. The bottleneck was never sensor quality — it is that nothing stops the estimate leaving the road.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250" b="1">
                <a:solidFill>
                  <a:srgbClr val="008A72"/>
                </a:solidFill>
              </a:rPr>
              <a:t>02  </a:t>
            </a:r>
            <a:r>
              <a:rPr sz="1250" b="0" i="0">
                <a:solidFill>
                  <a:srgbClr val="2B3645"/>
                </a:solidFill>
              </a:rPr>
              <a:t>So we changed what the filter is allowed to believe. Its state is not a free position (x, y); it is (which road edge, how far along it). Off-road is not representable, so lateral error cannot accumulate.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250" b="1">
                <a:solidFill>
                  <a:srgbClr val="008A72"/>
                </a:solidFill>
              </a:rPr>
              <a:t>03  </a:t>
            </a:r>
            <a:r>
              <a:rPr sz="1250" b="0" i="0">
                <a:solidFill>
                  <a:srgbClr val="2B3645"/>
                </a:solidFill>
              </a:rPr>
              <a:t>This only works in the loop. Snapping a finished track to the nearest road scores 0.98× — worse than doing nothing. Same map, opposite architecture.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250" b="1">
                <a:solidFill>
                  <a:srgbClr val="008A72"/>
                </a:solidFill>
              </a:rPr>
              <a:t>04  </a:t>
            </a:r>
            <a:r>
              <a:rPr sz="1250" b="0" i="0">
                <a:solidFill>
                  <a:srgbClr val="2B3645"/>
                </a:solidFill>
              </a:rPr>
              <a:t>Runs on the phone already in the vehicle. No OBD-II, no dongle, no network — the map database is offline OpenStreetMap, as the problem statement specifies.</a:t>
            </a:r>
          </a:p>
        </p:txBody>
      </p:sp>
      <p:pic>
        <p:nvPicPr>
          <p:cNvPr id="15364" name="Picture 15363" descr="inver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325880"/>
            <a:ext cx="5120640" cy="3151400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6675120" y="4709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7A8C"/>
                </a:solidFill>
              </a:rPr>
              <a:t>Measured on 43 real GNSS outages from IO-VNBD, scored against vehicle CAN-bus ground truth.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66928" y="4846320"/>
            <a:ext cx="1920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3000" b="1">
                <a:solidFill>
                  <a:srgbClr val="008A72"/>
                </a:solidFill>
              </a:rPr>
              <a:t>2.02×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6B7A8C"/>
                </a:solidFill>
              </a:rPr>
              <a:t>lower median position error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2578608" y="4846320"/>
            <a:ext cx="1920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3000" b="1">
                <a:solidFill>
                  <a:srgbClr val="008A72"/>
                </a:solidFill>
              </a:rPr>
              <a:t>55%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6B7A8C"/>
                </a:solidFill>
              </a:rPr>
              <a:t>a perfect gyro still fails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590288" y="4846320"/>
            <a:ext cx="1920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3000" b="1">
                <a:solidFill>
                  <a:srgbClr val="008A72"/>
                </a:solidFill>
              </a:rPr>
              <a:t>98×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6B7A8C"/>
                </a:solidFill>
              </a:rPr>
              <a:t>the 200 Hz edge requirement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COAST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051560"/>
            <a:ext cx="5394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COAST-VNet-1 — our speed model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2B3645"/>
                </a:solidFill>
              </a:rPr>
              <a:t>96,086 parameters · 392 KB ONNX · runs on the phone. A frequency-decoupled CNN-GRU: the low band goes through a GRU as vehicle motion, the high band through a conv stack as road and engine vibration — the exact noise the problem statement names.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2B3645"/>
                </a:solidFill>
              </a:rPr>
              <a:t>Trained leave-file-out on IO-VNBD, labelled from the vehicle CAN bus rather than phone GNSS, so it never learns to imitate a noisy fix.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The estimation pipeline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08A72"/>
                </a:solidFill>
              </a:rPr>
              <a:t>Align  </a:t>
            </a:r>
            <a:r>
              <a:rPr sz="1150" b="0" i="0">
                <a:solidFill>
                  <a:srgbClr val="2B3645"/>
                </a:solidFill>
              </a:rPr>
              <a:t>pitch/roll from gravity; mount yaw estimated on the move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08A72"/>
                </a:solidFill>
              </a:rPr>
              <a:t>Filter  </a:t>
            </a:r>
            <a:r>
              <a:rPr sz="1150" b="0" i="0">
                <a:solidFill>
                  <a:srgbClr val="2B3645"/>
                </a:solidFill>
              </a:rPr>
              <a:t>gravity removed, then vibration split from motion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08A72"/>
                </a:solidFill>
              </a:rPr>
              <a:t>Predict  </a:t>
            </a:r>
            <a:r>
              <a:rPr sz="1150" b="0" i="0">
                <a:solidFill>
                  <a:srgbClr val="2B3645"/>
                </a:solidFill>
              </a:rPr>
              <a:t>COAST-VNet-1 speed + gyro yaw + compass, ZUPT at rest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08A72"/>
                </a:solidFill>
              </a:rPr>
              <a:t>Constrain  </a:t>
            </a:r>
            <a:r>
              <a:rPr sz="1150" b="0" i="0">
                <a:solidFill>
                  <a:srgbClr val="2B3645"/>
                </a:solidFill>
              </a:rPr>
              <a:t>particle filter over the OSM road graph, with NHC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08A72"/>
                </a:solidFill>
              </a:rPr>
              <a:t>Fuse  </a:t>
            </a:r>
            <a:r>
              <a:rPr sz="1150" b="0" i="0">
                <a:solidFill>
                  <a:srgbClr val="2B3645"/>
                </a:solidFill>
              </a:rPr>
              <a:t>GNSS re-acquired in 100 ms, both directions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49834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B1220"/>
                </a:solidFill>
              </a:rPr>
              <a:t>Stack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B3645"/>
                </a:solidFill>
              </a:rPr>
              <a:t>Kotlin · Jetpack Compose · ONNX Runtime Mobile · MapLibre + OpenStreetMap (no API key, no billing) · shared C++ core → phone, WASM and a headless edge daemon · PyTorch for training.</a:t>
            </a:r>
          </a:p>
        </p:txBody>
      </p:sp>
      <p:pic>
        <p:nvPicPr>
          <p:cNvPr id="17412" name="Picture 17411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51560"/>
            <a:ext cx="5577840" cy="244774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6217920" y="489204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B1220"/>
                </a:solidFill>
              </a:rPr>
              <a:t>Why a particle filter, not a Kalman filter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B3645"/>
                </a:solidFill>
              </a:rPr>
              <a:t>At a junction the belief is genuinely multi-modal — you may be on either road. A single Gaussian must collapse that to one answer exactly when the ambiguity matters most. Particles carry both hypotheses until the motion resolves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COAST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051560"/>
            <a:ext cx="5486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Feasible because it needs nothing that does not already exist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6B7A8C"/>
                </a:solidFill>
              </a:rPr>
              <a:t>Extra hardware   </a:t>
            </a:r>
            <a:r>
              <a:rPr sz="1150" b="1">
                <a:solidFill>
                  <a:srgbClr val="0B1220"/>
                </a:solidFill>
              </a:rPr>
              <a:t>None — any phone with an IMU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6B7A8C"/>
                </a:solidFill>
              </a:rPr>
              <a:t>Map licence / API key   </a:t>
            </a:r>
            <a:r>
              <a:rPr sz="1150" b="1">
                <a:solidFill>
                  <a:srgbClr val="0B1220"/>
                </a:solidFill>
              </a:rPr>
              <a:t>None — OpenStreetMap, offline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6B7A8C"/>
                </a:solidFill>
              </a:rPr>
              <a:t>Network at runtime   </a:t>
            </a:r>
            <a:r>
              <a:rPr sz="1150" b="1">
                <a:solidFill>
                  <a:srgbClr val="0B1220"/>
                </a:solidFill>
              </a:rPr>
              <a:t>None — inference is on-device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6B7A8C"/>
                </a:solidFill>
              </a:rPr>
              <a:t>Cloud infrastructure   </a:t>
            </a:r>
            <a:r>
              <a:rPr sz="1150" b="1">
                <a:solidFill>
                  <a:srgbClr val="0B1220"/>
                </a:solidFill>
              </a:rPr>
              <a:t>None — zero marginal cost per user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6B7A8C"/>
                </a:solidFill>
              </a:rPr>
              <a:t>User account   </a:t>
            </a:r>
            <a:r>
              <a:rPr sz="1150" b="1">
                <a:solidFill>
                  <a:srgbClr val="0B1220"/>
                </a:solidFill>
              </a:rPr>
              <a:t>None — no identity is collected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37947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Scales in three directions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08A72"/>
                </a:solidFill>
              </a:rPr>
              <a:t>→  </a:t>
            </a:r>
            <a:r>
              <a:rPr sz="1150" b="0" i="0">
                <a:solidFill>
                  <a:srgbClr val="2B3645"/>
                </a:solidFill>
              </a:rPr>
              <a:t>Device — one C++ core runs 10 Hz on a phone and 19,682 Hz headless in its worst measured configuration, 98× the 200 Hz edge requirement.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08A72"/>
                </a:solidFill>
              </a:rPr>
              <a:t>→  </a:t>
            </a:r>
            <a:r>
              <a:rPr sz="1150" b="0" i="0">
                <a:solidFill>
                  <a:srgbClr val="2B3645"/>
                </a:solidFill>
              </a:rPr>
              <a:t>Geography — OpenStreetMap covers the planet. Adding a city is a data step, not an engineering one.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08A72"/>
                </a:solidFill>
              </a:rPr>
              <a:t>→  </a:t>
            </a:r>
            <a:r>
              <a:rPr sz="1150" b="0" i="0">
                <a:solidFill>
                  <a:srgbClr val="2B3645"/>
                </a:solidFill>
              </a:rPr>
              <a:t>Domain — the constraint is a plug-in. The algorithm never knew it was a road; a rail track or a shipping channel is another implementation.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0" y="105156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Risks, and what we did about them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150" b="1">
                <a:solidFill>
                  <a:srgbClr val="008A72"/>
                </a:solidFill>
              </a:rPr>
              <a:t>Heading drift is the hard part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We proved a perfect gyro is not enough (55% still fail), which is why the map is in the loop rather than a better sensor.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150" b="1">
                <a:solidFill>
                  <a:srgbClr val="008A72"/>
                </a:solidFill>
              </a:rPr>
              <a:t>Consumer IMUs are noisy and biased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Gravity removed before integration; vibration separated from motion in the model; zero-velocity updates at rest.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150" b="1">
                <a:solidFill>
                  <a:srgbClr val="008A72"/>
                </a:solidFill>
              </a:rPr>
              <a:t>Phone mount varies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Gravity-axis canonicalisation cut mount-swap degradation by ~63% in ablation. Yaw-to-vehicle remains our open problem, and we say so.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150" b="1">
                <a:solidFill>
                  <a:srgbClr val="C2393D"/>
                </a:solidFill>
              </a:rPr>
              <a:t>We do not yet meet the &lt;10% drift bar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We are at 16.77% against a 27.58% baseline — roughly half the gap closed, with a measured route to the rest.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150" b="1">
                <a:solidFill>
                  <a:srgbClr val="C2393D"/>
                </a:solidFill>
              </a:rPr>
              <a:t>Our uncertainty estimate is not trustworthy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It correlates −0.23 with real error, so we hide it rather than show a number we cannot stand behind.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COAST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0515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The vehicles nobody built a fallback for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B3645"/>
                </a:solidFill>
              </a:rPr>
              <a:t>Premium cars ship with wheel-connected inertial navigation. Trucks, older cars and India's two-wheeler fleet do not — they rely entirely on the phone on the dashboard. That is who this is for.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66928" y="2423160"/>
            <a:ext cx="1828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3000" b="1">
                <a:solidFill>
                  <a:srgbClr val="008A72"/>
                </a:solidFill>
              </a:rPr>
              <a:t>1.96 crore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6B7A8C"/>
                </a:solidFill>
              </a:rPr>
              <a:t>two-wheelers sold in India, FY2024-25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441448" y="2423160"/>
            <a:ext cx="1828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3000" b="1">
                <a:solidFill>
                  <a:srgbClr val="008A72"/>
                </a:solidFill>
              </a:rPr>
              <a:t>4.6×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6B7A8C"/>
                </a:solidFill>
              </a:rPr>
              <a:t>two-wheelers per passenger vehicle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315968" y="2423160"/>
            <a:ext cx="1828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3000" b="1">
                <a:solidFill>
                  <a:srgbClr val="008A72"/>
                </a:solidFill>
              </a:rPr>
              <a:t>₹0</a:t>
            </a:r>
          </a:p>
          <a:p>
            <a:pPr>
              <a:spcBef>
                <a:spcPts val="0"/>
              </a:spcBef>
            </a:pPr>
            <a:r>
              <a:rPr sz="1050">
                <a:solidFill>
                  <a:srgbClr val="6B7A8C"/>
                </a:solidFill>
              </a:rPr>
              <a:t>marginal cost per additional user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66928" y="3520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A8C"/>
                </a:solidFill>
              </a:rPr>
              <a:t>Sales figures: SIAM, 15 April 2025.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3886200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Where it matters most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08A72"/>
                </a:solidFill>
              </a:rPr>
              <a:t>›  </a:t>
            </a:r>
            <a:r>
              <a:rPr sz="1150" b="0" i="0">
                <a:solidFill>
                  <a:srgbClr val="2B3645"/>
                </a:solidFill>
              </a:rPr>
              <a:t>Everyday navigation — the turn you miss because the dot froze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08A72"/>
                </a:solidFill>
              </a:rPr>
              <a:t>›  </a:t>
            </a:r>
            <a:r>
              <a:rPr sz="1150" b="0" i="0">
                <a:solidFill>
                  <a:srgbClr val="2B3645"/>
                </a:solidFill>
              </a:rPr>
              <a:t>Emergency response — an ambulance in an underpass, when dispatch needs it most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08A72"/>
                </a:solidFill>
              </a:rPr>
              <a:t>›  </a:t>
            </a:r>
            <a:r>
              <a:rPr sz="1150" b="0" i="0">
                <a:solidFill>
                  <a:srgbClr val="2B3645"/>
                </a:solidFill>
              </a:rPr>
              <a:t>Logistics &amp; quick commerce — continuity through tunnels and multi-level warehouses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08A72"/>
                </a:solidFill>
              </a:rPr>
              <a:t>›  </a:t>
            </a:r>
            <a:r>
              <a:rPr sz="1150" b="0" i="0">
                <a:solidFill>
                  <a:srgbClr val="2B3645"/>
                </a:solidFill>
              </a:rPr>
              <a:t>Sovereignty — GNSS can be jammed; an inertial + map solution cannot be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46520" y="1051560"/>
            <a:ext cx="5349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220"/>
                </a:solidFill>
              </a:rPr>
              <a:t>Benefits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200" b="1">
                <a:solidFill>
                  <a:srgbClr val="008A72"/>
                </a:solidFill>
              </a:rPr>
              <a:t>Social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Navigation continuity is a safety function. It should not require a data plan, a subscription, or a car expensive enough to have inertial navigation fitted at the factory.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200" b="1">
                <a:solidFill>
                  <a:srgbClr val="008A72"/>
                </a:solidFill>
              </a:rPr>
              <a:t>Economic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Zero marginal cost per user. No map licensing, no cloud bill, no per-query fee — so the consumer app can stay free while the core is licensed to OEMs and fleet operators.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200" b="1">
                <a:solidFill>
                  <a:srgbClr val="008A72"/>
                </a:solidFill>
              </a:rPr>
              <a:t>Environmental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Zero additional hardware manufactured, and therefore zero additional e-waste. It runs on phones people already own, and on old ones — the model is 392 KB.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200" b="1">
                <a:solidFill>
                  <a:srgbClr val="008A72"/>
                </a:solidFill>
              </a:rPr>
              <a:t>Strategic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B3645"/>
                </a:solidFill>
              </a:rPr>
              <a:t>Positioning that depends on no satellite signal keeps working while a constellation is being rebuilt or deliberately denied. It complements NavIC rather than competing with it.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COAST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66928" y="105156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1220"/>
                </a:solidFill>
              </a:rPr>
              <a:t>Dataset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100" b="0" i="0">
                <a:solidFill>
                  <a:srgbClr val="2B3645"/>
                </a:solidFill>
              </a:rPr>
              <a:t>IO-VNBD — Inertial and Odometry Benchmark Dataset for ground vehicle positioning. Onyekpe et al. github.com/onyekpeu/IO-VNBD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100" b="0" i="1">
                <a:solidFill>
                  <a:srgbClr val="6B7A8C"/>
                </a:solidFill>
              </a:rPr>
              <a:t>All results below are leave-file-out on this corpus, labelled from the vehicle CAN bus at 10 Hz — never from phone GNSS.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1220"/>
                </a:solidFill>
              </a:rPr>
              <a:t>Foundational work we build 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8A72"/>
                </a:solidFill>
              </a:rPr>
              <a:t>·  </a:t>
            </a:r>
            <a:r>
              <a:rPr sz="1050" b="0" i="0">
                <a:solidFill>
                  <a:srgbClr val="2B3645"/>
                </a:solidFill>
              </a:rPr>
              <a:t>Newson &amp; Krumm (2009) — Hidden Markov map matching. Their algorithm; we implement and cite it, adapted for dead-reckoned rather than GNSS input.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8A72"/>
                </a:solidFill>
              </a:rPr>
              <a:t>·  </a:t>
            </a:r>
            <a:r>
              <a:rPr sz="1050" b="0" i="0">
                <a:solidFill>
                  <a:srgbClr val="2B3645"/>
                </a:solidFill>
              </a:rPr>
              <a:t>Brossard et al. — AI-IMU dead reckoning (invariant EKF, vehicle DR).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8A72"/>
                </a:solidFill>
              </a:rPr>
              <a:t>·  </a:t>
            </a:r>
            <a:r>
              <a:rPr sz="1050" b="0" i="0">
                <a:solidFill>
                  <a:srgbClr val="2B3645"/>
                </a:solidFill>
              </a:rPr>
              <a:t>Herath et al. RoNIN · Liu et al. TLIO · TinyOdom — the neural inertial odometry line COAST-VNet-1 belongs to.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8A72"/>
                </a:solidFill>
              </a:rPr>
              <a:t>·  </a:t>
            </a:r>
            <a:r>
              <a:rPr sz="1050" b="0" i="0">
                <a:solidFill>
                  <a:srgbClr val="2B3645"/>
                </a:solidFill>
              </a:rPr>
              <a:t>EqNIO (ICLR 2025) — gravity-axis equivariance; our mount canonicalisation follows this idea.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6446520" y="105156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1220"/>
                </a:solidFill>
              </a:rPr>
              <a:t>Our own measured results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50" b="0" i="1">
                <a:solidFill>
                  <a:srgbClr val="6B7A8C"/>
                </a:solidFill>
              </a:rPr>
              <a:t>Every figure in this deck is re-derived from a committed results file by tools/verify_claims.py, which fails the build if a slide states a number no measurement produced.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Map-in-loop vs dead reckoning   </a:t>
            </a:r>
            <a:r>
              <a:rPr sz="1050" b="1">
                <a:solidFill>
                  <a:srgbClr val="008A72"/>
                </a:solidFill>
              </a:rPr>
              <a:t>2.02× lower median error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Post-hoc road snapping (control)   </a:t>
            </a:r>
            <a:r>
              <a:rPr sz="1050" b="1">
                <a:solidFill>
                  <a:srgbClr val="C2393D"/>
                </a:solidFill>
              </a:rPr>
              <a:t>0.98× — worse than nothing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Perfect-gyro ablation   </a:t>
            </a:r>
            <a:r>
              <a:rPr sz="1050" b="1">
                <a:solidFill>
                  <a:srgbClr val="C2393D"/>
                </a:solidFill>
              </a:rPr>
              <a:t>still fails 55% of segments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Median drift, free DR → COAST   </a:t>
            </a:r>
            <a:r>
              <a:rPr sz="1050" b="1">
                <a:solidFill>
                  <a:srgbClr val="008A72"/>
                </a:solidFill>
              </a:rPr>
              <a:t>27.58% → 16.77%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Heading channel, gyro → compass   </a:t>
            </a:r>
            <a:r>
              <a:rPr sz="1050" b="1">
                <a:solidFill>
                  <a:srgbClr val="008A72"/>
                </a:solidFill>
              </a:rPr>
              <a:t>16.87% → 7.22%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GNSS+INS fusion   </a:t>
            </a:r>
            <a:r>
              <a:rPr sz="1050" b="1">
                <a:solidFill>
                  <a:srgbClr val="C2393D"/>
                </a:solidFill>
              </a:rPr>
              <a:t>1.07× — a wash, reported as such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Edge engine, worst configuration   </a:t>
            </a:r>
            <a:r>
              <a:rPr sz="1050" b="1">
                <a:solidFill>
                  <a:srgbClr val="008A72"/>
                </a:solidFill>
              </a:rPr>
              <a:t>19,682 Hz = 98× the requirement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050">
                <a:solidFill>
                  <a:srgbClr val="2B3645"/>
                </a:solidFill>
              </a:rPr>
              <a:t>GNSS ⇄ dead-reckoning handover   </a:t>
            </a:r>
            <a:r>
              <a:rPr sz="1050" b="1">
                <a:solidFill>
                  <a:srgbClr val="008A72"/>
                </a:solidFill>
              </a:rPr>
              <a:t>100 ms, both directions</a:t>
            </a:r>
          </a:p>
          <a:p>
            <a:pPr>
              <a:spcBef>
                <a:spcPts val="1200"/>
              </a:spcBef>
            </a:pPr>
            <a:r>
              <a:rPr sz="1050" i="1">
                <a:solidFill>
                  <a:srgbClr val="6B7A8C"/>
                </a:solidFill>
              </a:rPr>
              <a:t>We publish our negative results alongside our wins. A record that contains only successes is one nobody should trust.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